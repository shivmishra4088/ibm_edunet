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8"/>
  </p:notesMasterIdLst>
  <p:sldIdLst>
    <p:sldId id="256" r:id="rId5"/>
    <p:sldId id="2146847054" r:id="rId6"/>
    <p:sldId id="262" r:id="rId7"/>
    <p:sldId id="263" r:id="rId8"/>
    <p:sldId id="265" r:id="rId9"/>
    <p:sldId id="266" r:id="rId10"/>
    <p:sldId id="267" r:id="rId11"/>
    <p:sldId id="268" r:id="rId12"/>
    <p:sldId id="2146847055" r:id="rId13"/>
    <p:sldId id="269" r:id="rId14"/>
    <p:sldId id="259" r:id="rId15"/>
    <p:sldId id="2146847056" r:id="rId16"/>
    <p:sldId id="2146847057" r:id="rId17"/>
    <p:sldId id="2146847058" r:id="rId18"/>
    <p:sldId id="2146847059" r:id="rId19"/>
    <p:sldId id="2146847060" r:id="rId20"/>
    <p:sldId id="2146847061" r:id="rId21"/>
    <p:sldId id="2146847062" r:id="rId22"/>
    <p:sldId id="2146847063" r:id="rId23"/>
    <p:sldId id="2146847065" r:id="rId24"/>
    <p:sldId id="2146847066" r:id="rId25"/>
    <p:sldId id="2146847064" r:id="rId26"/>
    <p:sldId id="214684706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C2D01F-53DD-53CB-15F3-A71BB05CAA43}" v="11" dt="2025-08-25T05:49:29.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50" autoAdjust="0"/>
    <p:restoredTop sz="94660"/>
  </p:normalViewPr>
  <p:slideViewPr>
    <p:cSldViewPr snapToGrid="0">
      <p:cViewPr varScale="1">
        <p:scale>
          <a:sx n="64" d="100"/>
          <a:sy n="64" d="100"/>
        </p:scale>
        <p:origin x="11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2/7/2026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2/7/2026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2/7/2026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2/7/2026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2/7/2026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2/7/2026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2/7/2026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2/7/2026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dirty="0"/>
              <a:t>Improved Source of Drinking Water </a:t>
            </a:r>
            <a:endParaRPr lang="en-US" b="1" dirty="0">
              <a:solidFill>
                <a:schemeClr val="accent1"/>
              </a:solidFill>
              <a:latin typeface="Arial"/>
              <a:cs typeface="Arial"/>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117529" y="4586365"/>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Shiv Mishra</a:t>
            </a:r>
          </a:p>
          <a:p>
            <a:pPr marL="457200" indent="-457200">
              <a:buAutoNum type="arabicPeriod"/>
            </a:pPr>
            <a:r>
              <a:rPr lang="en-US" sz="2000" b="1" dirty="0">
                <a:solidFill>
                  <a:schemeClr val="accent1">
                    <a:lumMod val="75000"/>
                  </a:schemeClr>
                </a:solidFill>
                <a:latin typeface="Arial"/>
                <a:cs typeface="Arial"/>
              </a:rPr>
              <a:t>Faculty Name:- Aman Srivastava</a:t>
            </a:r>
          </a:p>
          <a:p>
            <a:pPr marL="457200" indent="-457200">
              <a:buAutoNum type="arabicPeriod"/>
            </a:pPr>
            <a:r>
              <a:rPr lang="en-US" sz="2000" b="1" dirty="0">
                <a:solidFill>
                  <a:schemeClr val="accent1">
                    <a:lumMod val="75000"/>
                  </a:schemeClr>
                </a:solidFill>
                <a:latin typeface="Arial"/>
                <a:cs typeface="Arial"/>
              </a:rPr>
              <a:t>College Name- Haridwar University</a:t>
            </a:r>
          </a:p>
          <a:p>
            <a:pPr marL="457200" indent="-457200">
              <a:buAutoNum type="arabicPeriod"/>
            </a:pPr>
            <a:r>
              <a:rPr lang="en-US" sz="2000" b="1" dirty="0">
                <a:solidFill>
                  <a:schemeClr val="accent1">
                    <a:lumMod val="75000"/>
                  </a:schemeClr>
                </a:solidFill>
                <a:latin typeface="Arial"/>
                <a:cs typeface="Arial"/>
              </a:rPr>
              <a:t>Department- CSE AIML</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(Output Image)</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1"/>
            <a:ext cx="11029615" cy="5238119"/>
          </a:xfrm>
        </p:spPr>
        <p:txBody>
          <a:bodyPr/>
          <a:lstStyle/>
          <a:p>
            <a:r>
              <a:rPr lang="en-US" dirty="0"/>
              <a:t>The proposed solution leverages </a:t>
            </a:r>
            <a:r>
              <a:rPr lang="en-US" b="1" dirty="0"/>
              <a:t>IBM Cloud</a:t>
            </a:r>
            <a:r>
              <a:rPr lang="en-US" dirty="0"/>
              <a:t> and </a:t>
            </a:r>
            <a:r>
              <a:rPr lang="en-US" b="1" dirty="0"/>
              <a:t>watsonx.ai Studio</a:t>
            </a:r>
            <a:r>
              <a:rPr lang="en-US" dirty="0"/>
              <a:t> to develop a data-driven analytical system that evaluates access to improved drinking water sources across India. Using data from the </a:t>
            </a:r>
            <a:r>
              <a:rPr lang="en-US" b="1" dirty="0"/>
              <a:t>78th Round of the Multiple Indicator Survey (MIS)</a:t>
            </a:r>
            <a:r>
              <a:rPr lang="en-US" dirty="0"/>
              <a:t>, the system performs exploratory data analysis and AI-assisted insights generation to identify regional disparities and socio-economic patterns related to drinking water availability.</a:t>
            </a:r>
          </a:p>
          <a:p>
            <a:r>
              <a:rPr lang="en-US" dirty="0"/>
              <a:t>The solution integrates multiple indicators—including access to improved drinking water, use of clean cooking fuel, and migration trends—to uncover correlations and hidden trends that influence water accessibility. Watsonx.ai Studio is utilized for data preprocessing, visualization, and intelligent analysis, enabling efficient handling of large-scale survey data and automated insight generation.</a:t>
            </a:r>
          </a:p>
          <a:p>
            <a:r>
              <a:rPr lang="en-US" dirty="0"/>
              <a:t>By deploying the analytical workflow on IBM Cloud, the solution ensures scalability, reliability, and secure data management. The results are presented through interactive dashboards and summarized insights that allow policymakers, researchers, and stakeholders to easily identify high-risk regions and priority areas for intervention.</a:t>
            </a:r>
          </a:p>
          <a:p>
            <a:r>
              <a:rPr lang="en-US" dirty="0"/>
              <a:t>Overall, this solution transforms raw survey data into actionable intelligence, supporting </a:t>
            </a:r>
            <a:r>
              <a:rPr lang="en-US" b="1" dirty="0"/>
              <a:t>evidence-based policymaking</a:t>
            </a:r>
            <a:r>
              <a:rPr lang="en-US" dirty="0"/>
              <a:t> aimed at reducing inequalities and ensuring equitable, sustainable access to safe drinking water across all regions of India.</a:t>
            </a:r>
          </a:p>
          <a:p>
            <a:pPr marL="0" indent="0">
              <a:buNone/>
            </a:pPr>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6392714"/>
          </a:xfrm>
        </p:spPr>
        <p:txBody>
          <a:bodyPr vert="horz" lIns="91440" tIns="45720" rIns="91440" bIns="45720" rtlCol="0" anchor="ctr">
            <a:noAutofit/>
          </a:bodyPr>
          <a:lstStyle/>
          <a:p>
            <a:r>
              <a:rPr lang="en-US" dirty="0"/>
              <a:t>The proposed solution leverages </a:t>
            </a:r>
            <a:r>
              <a:rPr lang="en-US" b="1" dirty="0"/>
              <a:t>IBM Cloud</a:t>
            </a:r>
            <a:r>
              <a:rPr lang="en-US" dirty="0"/>
              <a:t> and </a:t>
            </a:r>
            <a:r>
              <a:rPr lang="en-US" b="1" dirty="0"/>
              <a:t>watsonx.ai Studio</a:t>
            </a:r>
            <a:r>
              <a:rPr lang="en-US" dirty="0"/>
              <a:t> to develop a data-driven analytical system that evaluates access to improved drinking water sources across India. Using data from the </a:t>
            </a:r>
            <a:r>
              <a:rPr lang="en-US" b="1" dirty="0"/>
              <a:t>78th Round of the Multiple Indicator Survey (MIS)</a:t>
            </a:r>
            <a:r>
              <a:rPr lang="en-US" dirty="0"/>
              <a:t>, the system performs exploratory data analysis and AI-assisted insights generation to identify regional disparities and socio-economic patterns related to drinking water availability.</a:t>
            </a:r>
          </a:p>
          <a:p>
            <a:r>
              <a:rPr lang="en-US" dirty="0"/>
              <a:t>The solution integrates multiple indicators—including access to improved drinking water, use of clean cooking fuel, and migration trends—to uncover correlations and hidden trends that influence water accessibility. Watsonx.ai Studio is utilized for data preprocessing, visualization, and intelligent analysis, enabling efficient handling of large-scale survey data and automated insight generation.</a:t>
            </a:r>
          </a:p>
          <a:p>
            <a:r>
              <a:rPr lang="en-US" dirty="0"/>
              <a:t>By deploying the analytical workflow on IBM Cloud, the solution ensures scalability, reliability, and secure data management. The results are presented through interactive dashboards and summarized insights that allow policymakers, researchers, and stakeholders to easily identify high-risk regions and priority areas for intervention.</a:t>
            </a:r>
          </a:p>
          <a:p>
            <a:r>
              <a:rPr lang="en-US" dirty="0"/>
              <a:t>Overall, this solution transforms raw survey data into actionable intelligence, supporting </a:t>
            </a:r>
            <a:r>
              <a:rPr lang="en-US" b="1" dirty="0"/>
              <a:t>evidence-based policymaking</a:t>
            </a:r>
            <a:r>
              <a:rPr lang="en-US" dirty="0"/>
              <a:t> aimed at reducing inequalities and ensuring equitable, sustainable access to safe drinking water across all regions of India.</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581192" y="1302025"/>
            <a:ext cx="11029615" cy="5188715"/>
          </a:xfrm>
        </p:spPr>
        <p:txBody>
          <a:bodyPr>
            <a:normAutofit lnSpcReduction="10000"/>
          </a:bodyPr>
          <a:lstStyle/>
          <a:p>
            <a:r>
              <a:rPr lang="en-US" sz="1800" b="1" dirty="0"/>
              <a:t>Input:</a:t>
            </a:r>
            <a:br>
              <a:rPr lang="en-US" sz="1800" dirty="0"/>
            </a:br>
            <a:r>
              <a:rPr lang="en-US" sz="1800" dirty="0"/>
              <a:t>78th Round Multiple Indicator Survey (MIS) data on access to improved drinking water sources, clean cooking fuel usage, migration patterns, and socio-economic indicators across Indian states</a:t>
            </a:r>
          </a:p>
          <a:p>
            <a:r>
              <a:rPr lang="en-US" sz="1800" b="1" dirty="0"/>
              <a:t>Process:</a:t>
            </a:r>
            <a:br>
              <a:rPr lang="en-US" sz="1800" dirty="0"/>
            </a:br>
            <a:r>
              <a:rPr lang="en-US" sz="1800" dirty="0"/>
              <a:t>Data cleaning, preprocessing, feature selection, and integration using </a:t>
            </a:r>
            <a:r>
              <a:rPr lang="en-US" sz="1800" b="1" dirty="0" err="1"/>
              <a:t>Watsonx</a:t>
            </a:r>
            <a:r>
              <a:rPr lang="en-US" sz="1800" b="1" dirty="0"/>
              <a:t> AI Studio on IBM Cloud</a:t>
            </a:r>
            <a:r>
              <a:rPr lang="en-US" sz="1800" dirty="0"/>
              <a:t>, followed by exploratory and statistical analysis</a:t>
            </a:r>
          </a:p>
          <a:p>
            <a:r>
              <a:rPr lang="en-US" sz="1800" b="1" dirty="0"/>
              <a:t>Analysis:</a:t>
            </a:r>
            <a:br>
              <a:rPr lang="en-US" sz="1800" dirty="0"/>
            </a:br>
            <a:r>
              <a:rPr lang="en-US" sz="1800" dirty="0"/>
              <a:t>Assessment of state-wise and socio-economic disparities, identification of patterns in access to improved drinking water, and correlation with clean cooking fuel usage and migration trends</a:t>
            </a:r>
          </a:p>
          <a:p>
            <a:r>
              <a:rPr lang="en-US" sz="1800" b="1" dirty="0"/>
              <a:t>Output:</a:t>
            </a:r>
            <a:br>
              <a:rPr lang="en-US" sz="1800" dirty="0"/>
            </a:br>
            <a:r>
              <a:rPr lang="en-US" sz="1800" dirty="0"/>
              <a:t>Data-driven insights on inequalities in drinking water access and supporting indicators, with evaluation of India’s progress toward relevant </a:t>
            </a:r>
            <a:r>
              <a:rPr lang="en-US" sz="1800" b="1" dirty="0"/>
              <a:t>SDG targets (SDG 6 &amp; SDG 7)</a:t>
            </a:r>
            <a:endParaRPr lang="en-US" sz="1800" dirty="0"/>
          </a:p>
          <a:p>
            <a:r>
              <a:rPr lang="en-US" sz="1800" b="1" dirty="0"/>
              <a:t>Outcome:</a:t>
            </a:r>
            <a:br>
              <a:rPr lang="en-US" sz="1800" dirty="0"/>
            </a:br>
            <a:r>
              <a:rPr lang="en-US" sz="1800" dirty="0"/>
              <a:t>Evidence-based recommendations to support inclusive water resource planning and policy interventions aimed at ensuring equitable access to safe drinking water across regions</a:t>
            </a:r>
          </a:p>
          <a:p>
            <a:pPr marL="0" indent="0">
              <a:buNone/>
            </a:pPr>
            <a:endParaRPr lang="en-IN" sz="1800" b="1" dirty="0">
              <a:solidFill>
                <a:srgbClr val="0F0F0F"/>
              </a:solidFill>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581192" y="1302025"/>
            <a:ext cx="11029615" cy="4978853"/>
          </a:xfrm>
        </p:spPr>
        <p:txBody>
          <a:bodyPr>
            <a:normAutofit fontScale="92500" lnSpcReduction="10000"/>
          </a:bodyPr>
          <a:lstStyle/>
          <a:p>
            <a:r>
              <a:rPr lang="en-IN" sz="1800" b="1" dirty="0"/>
              <a:t>Algorithm</a:t>
            </a:r>
          </a:p>
          <a:p>
            <a:r>
              <a:rPr lang="en-IN" sz="1800" dirty="0"/>
              <a:t>Preprocess MIS (78th Round) data related to access to improved drinking water sources</a:t>
            </a:r>
          </a:p>
          <a:p>
            <a:r>
              <a:rPr lang="en-IN" sz="1800" dirty="0"/>
              <a:t>Clean, normalize, and integrate socio-economic indicators, clean cooking fuel usage, and migration data</a:t>
            </a:r>
          </a:p>
          <a:p>
            <a:r>
              <a:rPr lang="en-IN" sz="1800" dirty="0"/>
              <a:t>Perform exploratory data analysis and statistical </a:t>
            </a:r>
            <a:r>
              <a:rPr lang="en-IN" sz="1800" dirty="0" err="1"/>
              <a:t>modeling</a:t>
            </a:r>
            <a:endParaRPr lang="en-IN" sz="1800" dirty="0"/>
          </a:p>
          <a:p>
            <a:r>
              <a:rPr lang="en-IN" sz="1800" dirty="0"/>
              <a:t>Apply regression and correlation analysis to identify disparities and trends</a:t>
            </a:r>
          </a:p>
          <a:p>
            <a:r>
              <a:rPr lang="en-IN" sz="1800" dirty="0" err="1"/>
              <a:t>Analyze</a:t>
            </a:r>
            <a:r>
              <a:rPr lang="en-IN" sz="1800" dirty="0"/>
              <a:t> state-wise and demographic patterns aligned with </a:t>
            </a:r>
            <a:r>
              <a:rPr lang="en-IN" sz="1800" b="1" dirty="0"/>
              <a:t>SDG 6 (Clean Water and Sanitation)</a:t>
            </a:r>
            <a:endParaRPr lang="en-IN" sz="1800" dirty="0"/>
          </a:p>
          <a:p>
            <a:br>
              <a:rPr lang="en-IN" sz="1800" dirty="0"/>
            </a:br>
            <a:endParaRPr lang="en-IN" sz="1800" dirty="0"/>
          </a:p>
          <a:p>
            <a:r>
              <a:rPr lang="en-IN" sz="1800" b="1" dirty="0"/>
              <a:t>Deployment on IBM Cloud</a:t>
            </a:r>
          </a:p>
          <a:p>
            <a:r>
              <a:rPr lang="en-IN" sz="1800" dirty="0"/>
              <a:t>Store raw and processed datasets in </a:t>
            </a:r>
            <a:r>
              <a:rPr lang="en-IN" sz="1800" b="1" dirty="0"/>
              <a:t>IBM Cloud Object Storage</a:t>
            </a:r>
            <a:endParaRPr lang="en-IN" sz="1800" dirty="0"/>
          </a:p>
          <a:p>
            <a:r>
              <a:rPr lang="en-IN" sz="1800" dirty="0"/>
              <a:t>Conduct data analysis and model development using </a:t>
            </a:r>
            <a:r>
              <a:rPr lang="en-IN" sz="1800" b="1" dirty="0" err="1"/>
              <a:t>Watsonx</a:t>
            </a:r>
            <a:r>
              <a:rPr lang="en-IN" sz="1800" b="1" dirty="0"/>
              <a:t> AI Studio (IBM Watson Studio)</a:t>
            </a:r>
            <a:endParaRPr lang="en-IN" sz="1800" dirty="0"/>
          </a:p>
          <a:p>
            <a:r>
              <a:rPr lang="en-IN" sz="1800" dirty="0"/>
              <a:t>Deploy analytical models and insights as APIs using </a:t>
            </a:r>
            <a:r>
              <a:rPr lang="en-IN" sz="1800" b="1" dirty="0"/>
              <a:t>IBM Cloud Functions</a:t>
            </a:r>
            <a:endParaRPr lang="en-IN" sz="1800" dirty="0"/>
          </a:p>
          <a:p>
            <a:r>
              <a:rPr lang="en-IN" sz="1800" dirty="0"/>
              <a:t>Create interactive visualizations and dashboards using </a:t>
            </a:r>
            <a:r>
              <a:rPr lang="en-IN" sz="1800" b="1" dirty="0"/>
              <a:t>IBM Cognos Analytics</a:t>
            </a:r>
            <a:r>
              <a:rPr lang="en-IN" sz="1800" dirty="0"/>
              <a:t> to communicate insights</a:t>
            </a:r>
          </a:p>
          <a:p>
            <a:pPr marL="305435" indent="-305435"/>
            <a:endParaRPr lang="en-IN"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702156"/>
            <a:ext cx="11029616" cy="599870"/>
          </a:xfrm>
        </p:spPr>
        <p:txBody>
          <a:bodyPr>
            <a:normAutofit/>
          </a:bodyPr>
          <a:lstStyle/>
          <a:p>
            <a:r>
              <a:rPr lang="en-US" b="1" dirty="0">
                <a:solidFill>
                  <a:schemeClr val="accent2">
                    <a:lumMod val="60000"/>
                    <a:lumOff val="40000"/>
                  </a:schemeClr>
                </a:solidFill>
              </a:rPr>
              <a:t>IBM CLOUD SERVICES USED</a:t>
            </a:r>
            <a:endParaRPr lang="en-US" dirty="0"/>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0" lvl="0" indent="0" defTabSz="914400" eaLnBrk="0" fontAlgn="base" hangingPunct="0">
              <a:lnSpc>
                <a:spcPct val="100000"/>
              </a:lnSpc>
              <a:spcBef>
                <a:spcPct val="0"/>
              </a:spcBef>
              <a:spcAft>
                <a:spcPct val="0"/>
              </a:spcAft>
              <a:buClrTx/>
              <a:buSzTx/>
              <a:buFontTx/>
              <a:buChar char="•"/>
            </a:pPr>
            <a:r>
              <a:rPr lang="en-US" altLang="en-US" sz="2400" b="1" dirty="0">
                <a:solidFill>
                  <a:schemeClr val="tx1"/>
                </a:solidFill>
                <a:cs typeface="Arial" panose="020B0604020202020204" pitchFamily="34" charset="0"/>
              </a:rPr>
              <a:t> IBM Cloud </a:t>
            </a:r>
            <a:r>
              <a:rPr lang="en-US" altLang="en-US" sz="2400" b="1" dirty="0" err="1">
                <a:solidFill>
                  <a:schemeClr val="tx1"/>
                </a:solidFill>
                <a:cs typeface="Arial" panose="020B0604020202020204" pitchFamily="34" charset="0"/>
              </a:rPr>
              <a:t>Watsonx</a:t>
            </a:r>
            <a:r>
              <a:rPr lang="en-US" altLang="en-US" sz="2400" b="1" dirty="0">
                <a:solidFill>
                  <a:schemeClr val="tx1"/>
                </a:solidFill>
                <a:cs typeface="Arial" panose="020B0604020202020204" pitchFamily="34" charset="0"/>
              </a:rPr>
              <a:t> AI Studio</a:t>
            </a:r>
            <a:br>
              <a:rPr lang="en-US" altLang="en-US" sz="2400" dirty="0">
                <a:solidFill>
                  <a:schemeClr val="tx1"/>
                </a:solidFill>
                <a:cs typeface="Arial" panose="020B0604020202020204" pitchFamily="34" charset="0"/>
              </a:rPr>
            </a:br>
            <a:endParaRPr lang="en-US" altLang="en-US" sz="2400" dirty="0">
              <a:solidFill>
                <a:schemeClr val="tx1"/>
              </a:solidFill>
              <a:cs typeface="Arial" panose="020B0604020202020204" pitchFamily="34" charset="0"/>
            </a:endParaRPr>
          </a:p>
          <a:p>
            <a:pPr marL="0" lvl="0" indent="0" defTabSz="914400" eaLnBrk="0" fontAlgn="base" hangingPunct="0">
              <a:lnSpc>
                <a:spcPct val="100000"/>
              </a:lnSpc>
              <a:spcBef>
                <a:spcPct val="0"/>
              </a:spcBef>
              <a:spcAft>
                <a:spcPct val="0"/>
              </a:spcAft>
              <a:buClrTx/>
              <a:buSzTx/>
              <a:buFontTx/>
              <a:buChar char="•"/>
            </a:pPr>
            <a:r>
              <a:rPr lang="en-US" altLang="en-US" sz="2400" b="1" dirty="0">
                <a:solidFill>
                  <a:schemeClr val="tx1"/>
                </a:solidFill>
                <a:cs typeface="Arial" panose="020B0604020202020204" pitchFamily="34" charset="0"/>
              </a:rPr>
              <a:t> IBM Cloud </a:t>
            </a:r>
            <a:r>
              <a:rPr lang="en-US" altLang="en-US" sz="2400" b="1" dirty="0" err="1">
                <a:solidFill>
                  <a:schemeClr val="tx1"/>
                </a:solidFill>
                <a:cs typeface="Arial" panose="020B0604020202020204" pitchFamily="34" charset="0"/>
              </a:rPr>
              <a:t>Watsonx</a:t>
            </a:r>
            <a:r>
              <a:rPr lang="en-US" altLang="en-US" sz="2400" b="1" dirty="0">
                <a:solidFill>
                  <a:schemeClr val="tx1"/>
                </a:solidFill>
                <a:cs typeface="Arial" panose="020B0604020202020204" pitchFamily="34" charset="0"/>
              </a:rPr>
              <a:t> AI Runtime</a:t>
            </a:r>
            <a:br>
              <a:rPr lang="en-US" altLang="en-US" sz="2400" dirty="0">
                <a:solidFill>
                  <a:schemeClr val="tx1"/>
                </a:solidFill>
                <a:cs typeface="Arial" panose="020B0604020202020204" pitchFamily="34" charset="0"/>
              </a:rPr>
            </a:br>
            <a:endParaRPr lang="en-US" altLang="en-US" sz="2400" dirty="0">
              <a:solidFill>
                <a:schemeClr val="tx1"/>
              </a:solidFill>
              <a:cs typeface="Arial" panose="020B0604020202020204" pitchFamily="34" charset="0"/>
            </a:endParaRPr>
          </a:p>
          <a:p>
            <a:pPr marL="0" lvl="0" indent="0" defTabSz="914400" eaLnBrk="0" fontAlgn="base" hangingPunct="0">
              <a:lnSpc>
                <a:spcPct val="100000"/>
              </a:lnSpc>
              <a:spcBef>
                <a:spcPct val="0"/>
              </a:spcBef>
              <a:spcAft>
                <a:spcPct val="0"/>
              </a:spcAft>
              <a:buClrTx/>
              <a:buSzTx/>
              <a:buFontTx/>
              <a:buChar char="•"/>
            </a:pPr>
            <a:r>
              <a:rPr lang="en-US" sz="2400" b="1" dirty="0">
                <a:cs typeface="Arial" panose="020B0604020202020204" pitchFamily="34" charset="0"/>
              </a:rPr>
              <a:t>IBM </a:t>
            </a:r>
            <a:r>
              <a:rPr lang="en-US" sz="2400" b="1" dirty="0" err="1">
                <a:cs typeface="Arial" panose="020B0604020202020204" pitchFamily="34" charset="0"/>
              </a:rPr>
              <a:t>Watsonx</a:t>
            </a:r>
            <a:r>
              <a:rPr lang="en-US" sz="2400" b="1" dirty="0">
                <a:cs typeface="Arial" panose="020B0604020202020204" pitchFamily="34" charset="0"/>
              </a:rPr>
              <a:t> Machine Learning Auto Agent</a:t>
            </a:r>
            <a:br>
              <a:rPr lang="en-US" sz="2400" dirty="0">
                <a:cs typeface="Arial" panose="020B0604020202020204" pitchFamily="34" charset="0"/>
              </a:rPr>
            </a:br>
            <a:endParaRPr lang="en-US" sz="2400" dirty="0">
              <a:cs typeface="Arial" panose="020B0604020202020204" pitchFamily="34" charset="0"/>
            </a:endParaRPr>
          </a:p>
          <a:p>
            <a:pPr marL="0" lvl="0" indent="0" defTabSz="914400" eaLnBrk="0" fontAlgn="base" hangingPunct="0">
              <a:lnSpc>
                <a:spcPct val="100000"/>
              </a:lnSpc>
              <a:spcBef>
                <a:spcPct val="0"/>
              </a:spcBef>
              <a:spcAft>
                <a:spcPct val="0"/>
              </a:spcAft>
              <a:buClrTx/>
              <a:buSzTx/>
              <a:buFontTx/>
              <a:buChar char="•"/>
            </a:pPr>
            <a:r>
              <a:rPr lang="en-US" sz="2400" b="1" dirty="0">
                <a:cs typeface="Arial" panose="020B0604020202020204" pitchFamily="34" charset="0"/>
              </a:rPr>
              <a:t>IBM Cloud Agent Lab</a:t>
            </a:r>
            <a:endParaRPr lang="en-US" altLang="en-US" sz="2400" dirty="0">
              <a:solidFill>
                <a:schemeClr val="tx1"/>
              </a:solidFill>
              <a:cs typeface="Arial" panose="020B0604020202020204" pitchFamily="34" charset="0"/>
            </a:endParaRPr>
          </a:p>
          <a:p>
            <a:pPr marL="0" indent="0">
              <a:buNone/>
            </a:pPr>
            <a:endParaRPr lang="en-IN" sz="2400" dirty="0"/>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299803" y="702156"/>
            <a:ext cx="11311005" cy="599870"/>
          </a:xfrm>
        </p:spPr>
        <p:txBody>
          <a:bodyPr>
            <a:normAutofit/>
          </a:bodyPr>
          <a:lstStyle/>
          <a:p>
            <a:r>
              <a:rPr lang="en-US" b="1" dirty="0">
                <a:solidFill>
                  <a:schemeClr val="accent1"/>
                </a:solidFill>
                <a:latin typeface="Arial"/>
                <a:ea typeface="+mj-lt"/>
                <a:cs typeface="Arial"/>
              </a:rPr>
              <a:t>Result</a:t>
            </a:r>
            <a:endParaRPr lang="en-US" dirty="0">
              <a:solidFill>
                <a:srgbClr val="FF0000"/>
              </a:solidFill>
            </a:endParaRPr>
          </a:p>
        </p:txBody>
      </p:sp>
      <p:pic>
        <p:nvPicPr>
          <p:cNvPr id="4" name="Content Placeholder 3">
            <a:extLst>
              <a:ext uri="{FF2B5EF4-FFF2-40B4-BE49-F238E27FC236}">
                <a16:creationId xmlns:a16="http://schemas.microsoft.com/office/drawing/2014/main" id="{8A2376E8-32A2-0548-F1AF-2AB16F9A759F}"/>
              </a:ext>
            </a:extLst>
          </p:cNvPr>
          <p:cNvPicPr>
            <a:picLocks noGrp="1" noChangeAspect="1"/>
          </p:cNvPicPr>
          <p:nvPr>
            <p:ph idx="1"/>
          </p:nvPr>
        </p:nvPicPr>
        <p:blipFill>
          <a:blip r:embed="rId2"/>
          <a:stretch>
            <a:fillRect/>
          </a:stretch>
        </p:blipFill>
        <p:spPr>
          <a:xfrm>
            <a:off x="1484026" y="1301750"/>
            <a:ext cx="8768313" cy="5556250"/>
          </a:xfrm>
        </p:spPr>
      </p:pic>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FABB945-34AD-CE11-B7CF-91BF97FB360F}"/>
              </a:ext>
            </a:extLst>
          </p:cNvPr>
          <p:cNvPicPr>
            <a:picLocks noGrp="1" noChangeAspect="1"/>
          </p:cNvPicPr>
          <p:nvPr>
            <p:ph idx="1"/>
          </p:nvPr>
        </p:nvPicPr>
        <p:blipFill>
          <a:blip r:embed="rId2"/>
          <a:stretch>
            <a:fillRect/>
          </a:stretch>
        </p:blipFill>
        <p:spPr>
          <a:xfrm>
            <a:off x="794480" y="1301750"/>
            <a:ext cx="10568064" cy="5556250"/>
          </a:xfrm>
        </p:spPr>
      </p:pic>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result</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476261" y="717146"/>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pic>
        <p:nvPicPr>
          <p:cNvPr id="4" name="Content Placeholder 3">
            <a:extLst>
              <a:ext uri="{FF2B5EF4-FFF2-40B4-BE49-F238E27FC236}">
                <a16:creationId xmlns:a16="http://schemas.microsoft.com/office/drawing/2014/main" id="{F39A1C62-B0B2-2A8F-E77B-AF119330DD6D}"/>
              </a:ext>
            </a:extLst>
          </p:cNvPr>
          <p:cNvPicPr>
            <a:picLocks noGrp="1" noChangeAspect="1"/>
          </p:cNvPicPr>
          <p:nvPr>
            <p:ph idx="1"/>
          </p:nvPr>
        </p:nvPicPr>
        <p:blipFill>
          <a:blip r:embed="rId2"/>
          <a:stretch>
            <a:fillRect/>
          </a:stretch>
        </p:blipFill>
        <p:spPr>
          <a:xfrm>
            <a:off x="1094282" y="1316740"/>
            <a:ext cx="9338871" cy="5308912"/>
          </a:xfrm>
        </p:spPr>
      </p:pic>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 y="479686"/>
            <a:ext cx="2518347" cy="794478"/>
          </a:xfrm>
        </p:spPr>
        <p:txBody>
          <a:bodyPr/>
          <a:lstStyle/>
          <a:p>
            <a:pPr algn="ctr"/>
            <a:r>
              <a:rPr lang="en-US" b="1" dirty="0">
                <a:solidFill>
                  <a:schemeClr val="accent1"/>
                </a:solidFill>
                <a:latin typeface="Arial"/>
                <a:ea typeface="+mj-lt"/>
                <a:cs typeface="Arial"/>
              </a:rPr>
              <a:t>Result</a:t>
            </a:r>
            <a:endParaRPr lang="en-US" b="1" dirty="0">
              <a:solidFill>
                <a:srgbClr val="00206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32A85E9-DEA7-60AA-E79E-EF9D9C4257F4}"/>
              </a:ext>
            </a:extLst>
          </p:cNvPr>
          <p:cNvPicPr>
            <a:picLocks noChangeAspect="1"/>
          </p:cNvPicPr>
          <p:nvPr/>
        </p:nvPicPr>
        <p:blipFill>
          <a:blip r:embed="rId2"/>
          <a:stretch>
            <a:fillRect/>
          </a:stretch>
        </p:blipFill>
        <p:spPr>
          <a:xfrm>
            <a:off x="0" y="1274164"/>
            <a:ext cx="12192000" cy="5582162"/>
          </a:xfrm>
          <a:prstGeom prst="rect">
            <a:avLst/>
          </a:prstGeom>
        </p:spPr>
      </p:pic>
    </p:spTree>
    <p:extLst>
      <p:ext uri="{BB962C8B-B14F-4D97-AF65-F5344CB8AC3E}">
        <p14:creationId xmlns:p14="http://schemas.microsoft.com/office/powerpoint/2010/main" val="4066255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8C1EA-310B-2D94-E7CD-F3621A08A1E2}"/>
              </a:ext>
            </a:extLst>
          </p:cNvPr>
          <p:cNvSpPr>
            <a:spLocks noGrp="1"/>
          </p:cNvSpPr>
          <p:nvPr>
            <p:ph type="title"/>
          </p:nvPr>
        </p:nvSpPr>
        <p:spPr/>
        <p:txBody>
          <a:bodyPr/>
          <a:lstStyle/>
          <a:p>
            <a:r>
              <a:rPr lang="en-US" b="1" dirty="0">
                <a:solidFill>
                  <a:schemeClr val="accent1"/>
                </a:solidFill>
                <a:latin typeface="Arial"/>
                <a:ea typeface="+mj-lt"/>
                <a:cs typeface="Arial"/>
              </a:rPr>
              <a:t>Result</a:t>
            </a:r>
            <a:endParaRPr lang="en-US" dirty="0"/>
          </a:p>
        </p:txBody>
      </p:sp>
      <p:pic>
        <p:nvPicPr>
          <p:cNvPr id="6" name="Picture 5">
            <a:extLst>
              <a:ext uri="{FF2B5EF4-FFF2-40B4-BE49-F238E27FC236}">
                <a16:creationId xmlns:a16="http://schemas.microsoft.com/office/drawing/2014/main" id="{A696255B-5C4C-930B-61A2-DBDFE805569A}"/>
              </a:ext>
            </a:extLst>
          </p:cNvPr>
          <p:cNvPicPr>
            <a:picLocks noChangeAspect="1"/>
          </p:cNvPicPr>
          <p:nvPr/>
        </p:nvPicPr>
        <p:blipFill>
          <a:blip r:embed="rId2"/>
          <a:stretch>
            <a:fillRect/>
          </a:stretch>
        </p:blipFill>
        <p:spPr>
          <a:xfrm>
            <a:off x="0" y="1321904"/>
            <a:ext cx="12192000" cy="5534422"/>
          </a:xfrm>
          <a:prstGeom prst="rect">
            <a:avLst/>
          </a:prstGeom>
        </p:spPr>
      </p:pic>
    </p:spTree>
    <p:extLst>
      <p:ext uri="{BB962C8B-B14F-4D97-AF65-F5344CB8AC3E}">
        <p14:creationId xmlns:p14="http://schemas.microsoft.com/office/powerpoint/2010/main" val="2888778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D90AF-5803-3E2B-D26D-C2F91A1FF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D8DBA-56BB-37E7-7504-0FB1E2027ED8}"/>
              </a:ext>
            </a:extLst>
          </p:cNvPr>
          <p:cNvSpPr>
            <a:spLocks noGrp="1"/>
          </p:cNvSpPr>
          <p:nvPr>
            <p:ph type="title"/>
          </p:nvPr>
        </p:nvSpPr>
        <p:spPr/>
        <p:txBody>
          <a:bodyPr/>
          <a:lstStyle/>
          <a:p>
            <a:r>
              <a:rPr lang="en-US" b="1" dirty="0">
                <a:solidFill>
                  <a:schemeClr val="accent1"/>
                </a:solidFill>
                <a:latin typeface="Arial"/>
                <a:ea typeface="+mj-lt"/>
                <a:cs typeface="Arial"/>
              </a:rPr>
              <a:t>Result</a:t>
            </a:r>
            <a:endParaRPr lang="en-US" dirty="0"/>
          </a:p>
        </p:txBody>
      </p:sp>
      <p:pic>
        <p:nvPicPr>
          <p:cNvPr id="4" name="Picture 3">
            <a:extLst>
              <a:ext uri="{FF2B5EF4-FFF2-40B4-BE49-F238E27FC236}">
                <a16:creationId xmlns:a16="http://schemas.microsoft.com/office/drawing/2014/main" id="{4ADC6536-552D-A47F-2C2E-0969C8669840}"/>
              </a:ext>
            </a:extLst>
          </p:cNvPr>
          <p:cNvPicPr>
            <a:picLocks noChangeAspect="1"/>
          </p:cNvPicPr>
          <p:nvPr/>
        </p:nvPicPr>
        <p:blipFill>
          <a:blip r:embed="rId2"/>
          <a:stretch>
            <a:fillRect/>
          </a:stretch>
        </p:blipFill>
        <p:spPr>
          <a:xfrm>
            <a:off x="0" y="1321904"/>
            <a:ext cx="12192000" cy="5534422"/>
          </a:xfrm>
          <a:prstGeom prst="rect">
            <a:avLst/>
          </a:prstGeom>
        </p:spPr>
      </p:pic>
    </p:spTree>
    <p:extLst>
      <p:ext uri="{BB962C8B-B14F-4D97-AF65-F5344CB8AC3E}">
        <p14:creationId xmlns:p14="http://schemas.microsoft.com/office/powerpoint/2010/main" val="4091519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07445-5E12-6A57-C933-49B2B598B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87F4B-1166-D404-7DE0-F498A0EAF543}"/>
              </a:ext>
            </a:extLst>
          </p:cNvPr>
          <p:cNvSpPr>
            <a:spLocks noGrp="1"/>
          </p:cNvSpPr>
          <p:nvPr>
            <p:ph type="title"/>
          </p:nvPr>
        </p:nvSpPr>
        <p:spPr/>
        <p:txBody>
          <a:bodyPr/>
          <a:lstStyle/>
          <a:p>
            <a:r>
              <a:rPr lang="en-US" b="1" dirty="0">
                <a:solidFill>
                  <a:schemeClr val="accent1"/>
                </a:solidFill>
                <a:latin typeface="Arial"/>
                <a:ea typeface="+mj-lt"/>
                <a:cs typeface="Arial"/>
              </a:rPr>
              <a:t>Result</a:t>
            </a:r>
            <a:endParaRPr lang="en-US" dirty="0"/>
          </a:p>
        </p:txBody>
      </p:sp>
      <p:pic>
        <p:nvPicPr>
          <p:cNvPr id="4" name="Picture 3">
            <a:extLst>
              <a:ext uri="{FF2B5EF4-FFF2-40B4-BE49-F238E27FC236}">
                <a16:creationId xmlns:a16="http://schemas.microsoft.com/office/drawing/2014/main" id="{50608C9D-86AB-947D-94B0-7BCDDA0E9726}"/>
              </a:ext>
            </a:extLst>
          </p:cNvPr>
          <p:cNvPicPr>
            <a:picLocks noChangeAspect="1"/>
          </p:cNvPicPr>
          <p:nvPr/>
        </p:nvPicPr>
        <p:blipFill>
          <a:blip r:embed="rId2"/>
          <a:stretch>
            <a:fillRect/>
          </a:stretch>
        </p:blipFill>
        <p:spPr>
          <a:xfrm>
            <a:off x="0" y="1321904"/>
            <a:ext cx="12192000" cy="5534422"/>
          </a:xfrm>
          <a:prstGeom prst="rect">
            <a:avLst/>
          </a:prstGeom>
        </p:spPr>
      </p:pic>
    </p:spTree>
    <p:extLst>
      <p:ext uri="{BB962C8B-B14F-4D97-AF65-F5344CB8AC3E}">
        <p14:creationId xmlns:p14="http://schemas.microsoft.com/office/powerpoint/2010/main" val="2621259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909E9-346A-C0E4-B3EF-81C710916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13D98-2223-4438-A4CF-5405752B12D9}"/>
              </a:ext>
            </a:extLst>
          </p:cNvPr>
          <p:cNvSpPr>
            <a:spLocks noGrp="1"/>
          </p:cNvSpPr>
          <p:nvPr>
            <p:ph type="title"/>
          </p:nvPr>
        </p:nvSpPr>
        <p:spPr/>
        <p:txBody>
          <a:bodyPr/>
          <a:lstStyle/>
          <a:p>
            <a:r>
              <a:rPr lang="en-US" b="1" dirty="0">
                <a:solidFill>
                  <a:schemeClr val="accent1"/>
                </a:solidFill>
                <a:latin typeface="Arial"/>
                <a:ea typeface="+mj-lt"/>
                <a:cs typeface="Arial"/>
              </a:rPr>
              <a:t>Result</a:t>
            </a:r>
            <a:endParaRPr lang="en-US" dirty="0"/>
          </a:p>
        </p:txBody>
      </p:sp>
      <p:pic>
        <p:nvPicPr>
          <p:cNvPr id="4" name="Picture 3">
            <a:extLst>
              <a:ext uri="{FF2B5EF4-FFF2-40B4-BE49-F238E27FC236}">
                <a16:creationId xmlns:a16="http://schemas.microsoft.com/office/drawing/2014/main" id="{F0281A47-E436-1279-BB96-3EDC64E336E3}"/>
              </a:ext>
            </a:extLst>
          </p:cNvPr>
          <p:cNvPicPr>
            <a:picLocks noChangeAspect="1"/>
          </p:cNvPicPr>
          <p:nvPr/>
        </p:nvPicPr>
        <p:blipFill>
          <a:blip r:embed="rId2"/>
          <a:stretch>
            <a:fillRect/>
          </a:stretch>
        </p:blipFill>
        <p:spPr>
          <a:xfrm>
            <a:off x="0" y="1321904"/>
            <a:ext cx="12192000" cy="5534422"/>
          </a:xfrm>
          <a:prstGeom prst="rect">
            <a:avLst/>
          </a:prstGeom>
        </p:spPr>
      </p:pic>
    </p:spTree>
    <p:extLst>
      <p:ext uri="{BB962C8B-B14F-4D97-AF65-F5344CB8AC3E}">
        <p14:creationId xmlns:p14="http://schemas.microsoft.com/office/powerpoint/2010/main" val="4008611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A06E8-0954-151E-F647-DBBA41C4A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7845A-D9F8-A633-C4BF-90E32575CBBE}"/>
              </a:ext>
            </a:extLst>
          </p:cNvPr>
          <p:cNvSpPr>
            <a:spLocks noGrp="1"/>
          </p:cNvSpPr>
          <p:nvPr>
            <p:ph type="title"/>
          </p:nvPr>
        </p:nvSpPr>
        <p:spPr/>
        <p:txBody>
          <a:bodyPr/>
          <a:lstStyle/>
          <a:p>
            <a:r>
              <a:rPr lang="en-US" b="1" dirty="0">
                <a:solidFill>
                  <a:schemeClr val="accent1"/>
                </a:solidFill>
                <a:latin typeface="Arial"/>
                <a:ea typeface="+mj-lt"/>
                <a:cs typeface="Arial"/>
              </a:rPr>
              <a:t>Result</a:t>
            </a:r>
            <a:endParaRPr lang="en-US" dirty="0"/>
          </a:p>
        </p:txBody>
      </p:sp>
      <p:pic>
        <p:nvPicPr>
          <p:cNvPr id="6" name="Picture 5">
            <a:extLst>
              <a:ext uri="{FF2B5EF4-FFF2-40B4-BE49-F238E27FC236}">
                <a16:creationId xmlns:a16="http://schemas.microsoft.com/office/drawing/2014/main" id="{A60EBDDC-49A0-6EB4-5DBE-DB8DBD9F827B}"/>
              </a:ext>
            </a:extLst>
          </p:cNvPr>
          <p:cNvPicPr>
            <a:picLocks noChangeAspect="1"/>
          </p:cNvPicPr>
          <p:nvPr/>
        </p:nvPicPr>
        <p:blipFill>
          <a:blip r:embed="rId2"/>
          <a:stretch>
            <a:fillRect/>
          </a:stretch>
        </p:blipFill>
        <p:spPr>
          <a:xfrm>
            <a:off x="0" y="1321904"/>
            <a:ext cx="12192000" cy="5534422"/>
          </a:xfrm>
          <a:prstGeom prst="rect">
            <a:avLst/>
          </a:prstGeom>
        </p:spPr>
      </p:pic>
    </p:spTree>
    <p:extLst>
      <p:ext uri="{BB962C8B-B14F-4D97-AF65-F5344CB8AC3E}">
        <p14:creationId xmlns:p14="http://schemas.microsoft.com/office/powerpoint/2010/main" val="935490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02263-2CB6-2B4D-91F3-E9CC6AC3C78A}"/>
              </a:ext>
            </a:extLst>
          </p:cNvPr>
          <p:cNvSpPr>
            <a:spLocks noGrp="1"/>
          </p:cNvSpPr>
          <p:nvPr>
            <p:ph type="title"/>
          </p:nvPr>
        </p:nvSpPr>
        <p:spPr/>
        <p:txBody>
          <a:bodyPr/>
          <a:lstStyle/>
          <a:p>
            <a:r>
              <a:rPr lang="en-US" b="1" dirty="0">
                <a:solidFill>
                  <a:schemeClr val="accent1"/>
                </a:solidFill>
                <a:latin typeface="Arial"/>
                <a:ea typeface="+mj-lt"/>
                <a:cs typeface="Arial"/>
              </a:rPr>
              <a:t>Result</a:t>
            </a:r>
            <a:endParaRPr lang="en-US" dirty="0"/>
          </a:p>
        </p:txBody>
      </p:sp>
      <p:pic>
        <p:nvPicPr>
          <p:cNvPr id="4" name="Picture 3">
            <a:extLst>
              <a:ext uri="{FF2B5EF4-FFF2-40B4-BE49-F238E27FC236}">
                <a16:creationId xmlns:a16="http://schemas.microsoft.com/office/drawing/2014/main" id="{74114C1C-FA66-FF57-9277-A52849721543}"/>
              </a:ext>
            </a:extLst>
          </p:cNvPr>
          <p:cNvPicPr>
            <a:picLocks noChangeAspect="1"/>
          </p:cNvPicPr>
          <p:nvPr/>
        </p:nvPicPr>
        <p:blipFill>
          <a:blip r:embed="rId2"/>
          <a:stretch>
            <a:fillRect/>
          </a:stretch>
        </p:blipFill>
        <p:spPr>
          <a:xfrm>
            <a:off x="0" y="1321904"/>
            <a:ext cx="12192000" cy="5534422"/>
          </a:xfrm>
          <a:prstGeom prst="rect">
            <a:avLst/>
          </a:prstGeom>
        </p:spPr>
      </p:pic>
    </p:spTree>
    <p:extLst>
      <p:ext uri="{BB962C8B-B14F-4D97-AF65-F5344CB8AC3E}">
        <p14:creationId xmlns:p14="http://schemas.microsoft.com/office/powerpoint/2010/main" val="156363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7E419-2F1E-A40C-F46E-647F506F3D69}"/>
              </a:ext>
            </a:extLst>
          </p:cNvPr>
          <p:cNvSpPr>
            <a:spLocks noGrp="1"/>
          </p:cNvSpPr>
          <p:nvPr>
            <p:ph type="title"/>
          </p:nvPr>
        </p:nvSpPr>
        <p:spPr/>
        <p:txBody>
          <a:bodyPr/>
          <a:lstStyle/>
          <a:p>
            <a:r>
              <a:rPr lang="en-US" b="1" dirty="0">
                <a:solidFill>
                  <a:schemeClr val="accent1"/>
                </a:solidFill>
                <a:latin typeface="Arial"/>
                <a:ea typeface="+mj-lt"/>
                <a:cs typeface="Arial"/>
              </a:rPr>
              <a:t>Result</a:t>
            </a:r>
            <a:endParaRPr lang="en-US" dirty="0"/>
          </a:p>
        </p:txBody>
      </p:sp>
      <p:pic>
        <p:nvPicPr>
          <p:cNvPr id="4" name="Picture 3">
            <a:extLst>
              <a:ext uri="{FF2B5EF4-FFF2-40B4-BE49-F238E27FC236}">
                <a16:creationId xmlns:a16="http://schemas.microsoft.com/office/drawing/2014/main" id="{D9F0426D-727D-BFF6-D53F-3999534AFFD5}"/>
              </a:ext>
            </a:extLst>
          </p:cNvPr>
          <p:cNvPicPr>
            <a:picLocks noChangeAspect="1"/>
          </p:cNvPicPr>
          <p:nvPr/>
        </p:nvPicPr>
        <p:blipFill>
          <a:blip r:embed="rId2"/>
          <a:stretch>
            <a:fillRect/>
          </a:stretch>
        </p:blipFill>
        <p:spPr>
          <a:xfrm>
            <a:off x="0" y="1321904"/>
            <a:ext cx="12192000" cy="5534422"/>
          </a:xfrm>
          <a:prstGeom prst="rect">
            <a:avLst/>
          </a:prstGeom>
        </p:spPr>
      </p:pic>
    </p:spTree>
    <p:extLst>
      <p:ext uri="{BB962C8B-B14F-4D97-AF65-F5344CB8AC3E}">
        <p14:creationId xmlns:p14="http://schemas.microsoft.com/office/powerpoint/2010/main" val="1951656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FB404-71E4-0677-8FA2-AF7DF8CC7FCB}"/>
              </a:ext>
            </a:extLst>
          </p:cNvPr>
          <p:cNvSpPr>
            <a:spLocks noGrp="1"/>
          </p:cNvSpPr>
          <p:nvPr>
            <p:ph type="title"/>
          </p:nvPr>
        </p:nvSpPr>
        <p:spPr/>
        <p:txBody>
          <a:bodyPr/>
          <a:lstStyle/>
          <a:p>
            <a:r>
              <a:rPr lang="en-US" b="1" dirty="0">
                <a:solidFill>
                  <a:schemeClr val="accent1"/>
                </a:solidFill>
                <a:latin typeface="Arial"/>
                <a:ea typeface="+mj-lt"/>
                <a:cs typeface="Arial"/>
              </a:rPr>
              <a:t>Conclusion</a:t>
            </a:r>
            <a:endParaRPr lang="en-US" dirty="0"/>
          </a:p>
        </p:txBody>
      </p:sp>
      <p:sp>
        <p:nvSpPr>
          <p:cNvPr id="4" name="TextBox 3">
            <a:extLst>
              <a:ext uri="{FF2B5EF4-FFF2-40B4-BE49-F238E27FC236}">
                <a16:creationId xmlns:a16="http://schemas.microsoft.com/office/drawing/2014/main" id="{7485BC32-F468-685A-C4FC-0E2DE141E167}"/>
              </a:ext>
            </a:extLst>
          </p:cNvPr>
          <p:cNvSpPr txBox="1"/>
          <p:nvPr/>
        </p:nvSpPr>
        <p:spPr>
          <a:xfrm>
            <a:off x="149902" y="1855592"/>
            <a:ext cx="11632367" cy="1477328"/>
          </a:xfrm>
          <a:prstGeom prst="rect">
            <a:avLst/>
          </a:prstGeom>
          <a:noFill/>
        </p:spPr>
        <p:txBody>
          <a:bodyPr wrap="square">
            <a:spAutoFit/>
          </a:bodyPr>
          <a:lstStyle/>
          <a:p>
            <a:pPr marL="305435" indent="-305435"/>
            <a:r>
              <a:rPr lang="en-US" sz="1800" dirty="0"/>
              <a:t>Access to safe and improved drinking water varies significantly across regions and socio-economic groups in India.</a:t>
            </a:r>
            <a:br>
              <a:rPr lang="en-US" sz="1800" dirty="0"/>
            </a:br>
            <a:r>
              <a:rPr lang="en-US" sz="1800" dirty="0"/>
              <a:t>Data-driven analysis plays a crucial role in identifying key factors influencing water accessibility, including infrastructure, clean energy usage, and migration patterns.</a:t>
            </a:r>
            <a:br>
              <a:rPr lang="en-US" sz="1800" dirty="0"/>
            </a:br>
            <a:r>
              <a:rPr lang="en-US" sz="1800" dirty="0"/>
              <a:t>Targeted policies, focused infrastructure investments, and evidence-based planning are essential to achieve </a:t>
            </a:r>
            <a:r>
              <a:rPr lang="en-US" sz="1800" b="1" dirty="0"/>
              <a:t>SDG 6 (Clean Water and Sanitation)</a:t>
            </a:r>
            <a:r>
              <a:rPr lang="en-US" sz="1800" dirty="0"/>
              <a:t> and ensure equitable access to safe drinking water for all by </a:t>
            </a:r>
            <a:r>
              <a:rPr lang="en-US" sz="1800" b="1" dirty="0"/>
              <a:t>2030</a:t>
            </a:r>
            <a:r>
              <a:rPr lang="en-US" sz="1800" dirty="0"/>
              <a:t>.</a:t>
            </a:r>
            <a:endParaRPr lang="en-IN" sz="1800" dirty="0"/>
          </a:p>
        </p:txBody>
      </p:sp>
    </p:spTree>
    <p:extLst>
      <p:ext uri="{BB962C8B-B14F-4D97-AF65-F5344CB8AC3E}">
        <p14:creationId xmlns:p14="http://schemas.microsoft.com/office/powerpoint/2010/main" val="1700345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F039A-D28F-912C-A607-4C12CA664C11}"/>
              </a:ext>
            </a:extLst>
          </p:cNvPr>
          <p:cNvSpPr>
            <a:spLocks noGrp="1"/>
          </p:cNvSpPr>
          <p:nvPr>
            <p:ph type="title"/>
          </p:nvPr>
        </p:nvSpPr>
        <p:spPr/>
        <p:txBody>
          <a:bodyPr/>
          <a:lstStyle/>
          <a:p>
            <a:r>
              <a:rPr lang="en-IN" dirty="0">
                <a:solidFill>
                  <a:schemeClr val="accent2">
                    <a:lumMod val="60000"/>
                    <a:lumOff val="40000"/>
                  </a:schemeClr>
                </a:solidFill>
              </a:rPr>
              <a:t>GITHUB</a:t>
            </a:r>
            <a:endParaRPr lang="en-US" dirty="0"/>
          </a:p>
        </p:txBody>
      </p:sp>
      <p:sp>
        <p:nvSpPr>
          <p:cNvPr id="3" name="TextBox 2">
            <a:extLst>
              <a:ext uri="{FF2B5EF4-FFF2-40B4-BE49-F238E27FC236}">
                <a16:creationId xmlns:a16="http://schemas.microsoft.com/office/drawing/2014/main" id="{7031C11E-C666-8A42-B5A7-EE184F8D5AE5}"/>
              </a:ext>
            </a:extLst>
          </p:cNvPr>
          <p:cNvSpPr txBox="1"/>
          <p:nvPr/>
        </p:nvSpPr>
        <p:spPr>
          <a:xfrm>
            <a:off x="704538" y="2728209"/>
            <a:ext cx="9473783" cy="461665"/>
          </a:xfrm>
          <a:prstGeom prst="rect">
            <a:avLst/>
          </a:prstGeom>
          <a:noFill/>
        </p:spPr>
        <p:txBody>
          <a:bodyPr wrap="square" rtlCol="0">
            <a:spAutoFit/>
          </a:bodyPr>
          <a:lstStyle/>
          <a:p>
            <a:r>
              <a:rPr lang="en-IN" sz="2400" dirty="0" err="1"/>
              <a:t>Github</a:t>
            </a:r>
            <a:r>
              <a:rPr lang="en-IN" sz="2400" dirty="0"/>
              <a:t> link:- https://github.com/SHIVMISHRA4088/IBM_EDUNET.git</a:t>
            </a:r>
            <a:endParaRPr lang="en-US" sz="2400" dirty="0"/>
          </a:p>
        </p:txBody>
      </p:sp>
    </p:spTree>
    <p:extLst>
      <p:ext uri="{BB962C8B-B14F-4D97-AF65-F5344CB8AC3E}">
        <p14:creationId xmlns:p14="http://schemas.microsoft.com/office/powerpoint/2010/main" val="512606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91962-C4DD-38CF-31AC-6C3376769297}"/>
              </a:ext>
            </a:extLst>
          </p:cNvPr>
          <p:cNvSpPr>
            <a:spLocks noGrp="1"/>
          </p:cNvSpPr>
          <p:nvPr>
            <p:ph type="title"/>
          </p:nvPr>
        </p:nvSpPr>
        <p:spPr>
          <a:xfrm>
            <a:off x="539646" y="254833"/>
            <a:ext cx="11065864" cy="1319134"/>
          </a:xfrm>
        </p:spPr>
        <p:txBody>
          <a:bodyPr>
            <a:normAutofit/>
          </a:bodyPr>
          <a:lstStyle/>
          <a:p>
            <a:r>
              <a:rPr lang="en-US" b="1" dirty="0">
                <a:solidFill>
                  <a:schemeClr val="accent1"/>
                </a:solidFill>
                <a:latin typeface="Arial"/>
                <a:cs typeface="Arial"/>
              </a:rPr>
              <a:t>CERTIFICATE</a:t>
            </a:r>
            <a:br>
              <a:rPr lang="en-US" b="1" dirty="0">
                <a:solidFill>
                  <a:schemeClr val="accent1"/>
                </a:solidFill>
                <a:latin typeface="Arial"/>
                <a:cs typeface="Arial"/>
              </a:rPr>
            </a:br>
            <a:endParaRPr lang="en-US" dirty="0"/>
          </a:p>
        </p:txBody>
      </p:sp>
      <p:pic>
        <p:nvPicPr>
          <p:cNvPr id="6" name="Picture 5">
            <a:extLst>
              <a:ext uri="{FF2B5EF4-FFF2-40B4-BE49-F238E27FC236}">
                <a16:creationId xmlns:a16="http://schemas.microsoft.com/office/drawing/2014/main" id="{5679C68D-A2A1-4784-F78C-FDD77B5B1584}"/>
              </a:ext>
            </a:extLst>
          </p:cNvPr>
          <p:cNvPicPr>
            <a:picLocks noChangeAspect="1"/>
          </p:cNvPicPr>
          <p:nvPr/>
        </p:nvPicPr>
        <p:blipFill>
          <a:blip r:embed="rId2"/>
          <a:stretch>
            <a:fillRect/>
          </a:stretch>
        </p:blipFill>
        <p:spPr>
          <a:xfrm>
            <a:off x="104931" y="1169234"/>
            <a:ext cx="5991069" cy="5433933"/>
          </a:xfrm>
          <a:prstGeom prst="rect">
            <a:avLst/>
          </a:prstGeom>
        </p:spPr>
      </p:pic>
      <p:pic>
        <p:nvPicPr>
          <p:cNvPr id="8" name="Picture 7">
            <a:extLst>
              <a:ext uri="{FF2B5EF4-FFF2-40B4-BE49-F238E27FC236}">
                <a16:creationId xmlns:a16="http://schemas.microsoft.com/office/drawing/2014/main" id="{070CF10A-B037-AAB9-4F61-A209031C7A4F}"/>
              </a:ext>
            </a:extLst>
          </p:cNvPr>
          <p:cNvPicPr>
            <a:picLocks noChangeAspect="1"/>
          </p:cNvPicPr>
          <p:nvPr/>
        </p:nvPicPr>
        <p:blipFill>
          <a:blip r:embed="rId3"/>
          <a:stretch>
            <a:fillRect/>
          </a:stretch>
        </p:blipFill>
        <p:spPr>
          <a:xfrm>
            <a:off x="6370819" y="1169234"/>
            <a:ext cx="5716249" cy="5433933"/>
          </a:xfrm>
          <a:prstGeom prst="rect">
            <a:avLst/>
          </a:prstGeom>
        </p:spPr>
      </p:pic>
    </p:spTree>
    <p:extLst>
      <p:ext uri="{BB962C8B-B14F-4D97-AF65-F5344CB8AC3E}">
        <p14:creationId xmlns:p14="http://schemas.microsoft.com/office/powerpoint/2010/main" val="2323594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647DC-42BC-8204-6518-7152F3D4307F}"/>
              </a:ext>
            </a:extLst>
          </p:cNvPr>
          <p:cNvSpPr>
            <a:spLocks noGrp="1"/>
          </p:cNvSpPr>
          <p:nvPr>
            <p:ph type="title"/>
          </p:nvPr>
        </p:nvSpPr>
        <p:spPr>
          <a:xfrm>
            <a:off x="524656" y="729658"/>
            <a:ext cx="11080854" cy="889280"/>
          </a:xfrm>
        </p:spPr>
        <p:txBody>
          <a:bodyPr>
            <a:normAutofit fontScale="90000"/>
          </a:bodyPr>
          <a:lstStyle/>
          <a:p>
            <a:r>
              <a:rPr lang="en-US" b="1" dirty="0">
                <a:solidFill>
                  <a:schemeClr val="accent1"/>
                </a:solidFill>
                <a:latin typeface="Arial"/>
                <a:cs typeface="Arial"/>
              </a:rPr>
              <a:t>CERTIFICATE</a:t>
            </a:r>
            <a:br>
              <a:rPr lang="en-US" b="1" dirty="0">
                <a:solidFill>
                  <a:schemeClr val="accent1"/>
                </a:solidFill>
                <a:latin typeface="Arial"/>
                <a:cs typeface="Arial"/>
              </a:rPr>
            </a:br>
            <a:endParaRPr lang="en-US" dirty="0"/>
          </a:p>
        </p:txBody>
      </p:sp>
      <p:pic>
        <p:nvPicPr>
          <p:cNvPr id="6" name="Picture 5">
            <a:extLst>
              <a:ext uri="{FF2B5EF4-FFF2-40B4-BE49-F238E27FC236}">
                <a16:creationId xmlns:a16="http://schemas.microsoft.com/office/drawing/2014/main" id="{A1B8DAF6-71DB-40F4-95C4-B2B013902DEB}"/>
              </a:ext>
            </a:extLst>
          </p:cNvPr>
          <p:cNvPicPr>
            <a:picLocks noChangeAspect="1"/>
          </p:cNvPicPr>
          <p:nvPr/>
        </p:nvPicPr>
        <p:blipFill>
          <a:blip r:embed="rId2"/>
          <a:stretch>
            <a:fillRect/>
          </a:stretch>
        </p:blipFill>
        <p:spPr>
          <a:xfrm>
            <a:off x="239843" y="1364106"/>
            <a:ext cx="5966085" cy="5006714"/>
          </a:xfrm>
          <a:prstGeom prst="rect">
            <a:avLst/>
          </a:prstGeom>
        </p:spPr>
      </p:pic>
      <p:pic>
        <p:nvPicPr>
          <p:cNvPr id="8" name="Picture 7">
            <a:extLst>
              <a:ext uri="{FF2B5EF4-FFF2-40B4-BE49-F238E27FC236}">
                <a16:creationId xmlns:a16="http://schemas.microsoft.com/office/drawing/2014/main" id="{9F22B131-9D97-F3B2-524E-CC54C1C40837}"/>
              </a:ext>
            </a:extLst>
          </p:cNvPr>
          <p:cNvPicPr>
            <a:picLocks noChangeAspect="1"/>
          </p:cNvPicPr>
          <p:nvPr/>
        </p:nvPicPr>
        <p:blipFill>
          <a:blip r:embed="rId3"/>
          <a:stretch>
            <a:fillRect/>
          </a:stretch>
        </p:blipFill>
        <p:spPr>
          <a:xfrm>
            <a:off x="6490741" y="1364106"/>
            <a:ext cx="5399582" cy="4764236"/>
          </a:xfrm>
          <a:prstGeom prst="rect">
            <a:avLst/>
          </a:prstGeom>
        </p:spPr>
      </p:pic>
    </p:spTree>
    <p:extLst>
      <p:ext uri="{BB962C8B-B14F-4D97-AF65-F5344CB8AC3E}">
        <p14:creationId xmlns:p14="http://schemas.microsoft.com/office/powerpoint/2010/main" val="1695375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52EC9-0F95-7B1A-E2BC-247B14AE8140}"/>
              </a:ext>
            </a:extLst>
          </p:cNvPr>
          <p:cNvSpPr>
            <a:spLocks noGrp="1"/>
          </p:cNvSpPr>
          <p:nvPr>
            <p:ph type="title"/>
          </p:nvPr>
        </p:nvSpPr>
        <p:spPr>
          <a:xfrm>
            <a:off x="4287187" y="2638268"/>
            <a:ext cx="4512039" cy="790731"/>
          </a:xfrm>
        </p:spPr>
        <p:txBody>
          <a:bodyPr>
            <a:normAutofit/>
          </a:bodyPr>
          <a:lstStyle/>
          <a:p>
            <a:r>
              <a:rPr lang="en-US" sz="4400" b="1" dirty="0">
                <a:solidFill>
                  <a:srgbClr val="002060"/>
                </a:solidFill>
                <a:latin typeface="Arial" panose="020B0604020202020204" pitchFamily="34" charset="0"/>
                <a:cs typeface="Arial" panose="020B0604020202020204" pitchFamily="34" charset="0"/>
              </a:rPr>
              <a:t>THANK YOU</a:t>
            </a:r>
            <a:endParaRPr lang="en-US" sz="4400" dirty="0"/>
          </a:p>
        </p:txBody>
      </p:sp>
    </p:spTree>
    <p:extLst>
      <p:ext uri="{BB962C8B-B14F-4D97-AF65-F5344CB8AC3E}">
        <p14:creationId xmlns:p14="http://schemas.microsoft.com/office/powerpoint/2010/main" val="2145177793"/>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900</Words>
  <Application>Microsoft Office PowerPoint</Application>
  <PresentationFormat>Widescreen</PresentationFormat>
  <Paragraphs>69</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Franklin Gothic Book</vt:lpstr>
      <vt:lpstr>Franklin Gothic Demi</vt:lpstr>
      <vt:lpstr>Wingdings 2</vt:lpstr>
      <vt:lpstr>DividendVTI</vt:lpstr>
      <vt:lpstr>Improved Source of Drinking Water </vt:lpstr>
      <vt:lpstr>OUTLINE</vt:lpstr>
      <vt:lpstr>Problem Statement</vt:lpstr>
      <vt:lpstr>Proposed Solution</vt:lpstr>
      <vt:lpstr>System  Approach</vt:lpstr>
      <vt:lpstr>Algorithm &amp; Deployment</vt:lpstr>
      <vt:lpstr>IBM CLOUD SERVICES USED</vt:lpstr>
      <vt:lpstr>Result</vt:lpstr>
      <vt:lpstr>PowerPoint Presentation</vt:lpstr>
      <vt:lpstr>Result</vt:lpstr>
      <vt:lpstr>Result</vt:lpstr>
      <vt:lpstr>Result</vt:lpstr>
      <vt:lpstr>Result</vt:lpstr>
      <vt:lpstr>Result</vt:lpstr>
      <vt:lpstr>Result</vt:lpstr>
      <vt:lpstr>Result</vt:lpstr>
      <vt:lpstr>Result</vt:lpstr>
      <vt:lpstr>Result</vt:lpstr>
      <vt:lpstr>Conclusion</vt:lpstr>
      <vt:lpstr>GITHUB</vt:lpstr>
      <vt:lpstr>CERTIFICATE </vt:lpstr>
      <vt:lpstr>CERTIFICATE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shiv mishra</cp:lastModifiedBy>
  <cp:revision>31</cp:revision>
  <dcterms:created xsi:type="dcterms:W3CDTF">2021-05-26T16:50:10Z</dcterms:created>
  <dcterms:modified xsi:type="dcterms:W3CDTF">2026-02-07T18:58:47Z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